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03920" y="1280160"/>
            <a:ext cx="2697480" cy="3474720"/>
          </a:xfrm>
          <a:prstGeom prst="round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1536192"/>
            <a:ext cx="2212848" cy="1508760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32520" y="3182112"/>
            <a:ext cx="2212848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0" y="3182112"/>
            <a:ext cx="64008" cy="1298448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3182112"/>
            <a:ext cx="2212848" cy="64008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32520" y="4480560"/>
            <a:ext cx="2212848" cy="109728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1938528"/>
            <a:ext cx="19659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82B38"/>
                </a:solidFill>
                <a:latin typeface="Microsoft JhengHei"/>
              </a:defRPr>
            </a:pPr>
            <a:r>
              <a:t>BATHROOM</a:t>
            </a:r>
          </a:p>
          <a:p>
            <a:pPr algn="ctr">
              <a:spcAft>
                <a:spcPts val="800"/>
              </a:spcAft>
              <a:defRPr sz="2000" b="1">
                <a:solidFill>
                  <a:srgbClr val="182B38"/>
                </a:solidFill>
                <a:latin typeface="Microsoft JhengHei"/>
              </a:defRPr>
            </a:pPr>
            <a:r>
              <a:t>CABINET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5074920"/>
            <a:ext cx="2560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STOCK • SHIP •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25880"/>
            <a:ext cx="6766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CF1EB"/>
                </a:solidFill>
                <a:latin typeface="Microsoft JhengHei"/>
              </a:defRPr>
            </a:pPr>
            <a:r>
              <a:t>庫存更清楚，出貨更安心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65960"/>
            <a:ext cx="66751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Microsoft JhengHei"/>
              </a:defRPr>
            </a:pPr>
            <a:r>
              <a:t>浴櫃庫存小工具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63240"/>
            <a:ext cx="6583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Microsoft JhengHei"/>
              </a:defRPr>
            </a:pPr>
            <a:r>
              <a:t>主櫃 × 鏡櫃的庫存與出貨管理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94760"/>
            <a:ext cx="1051560" cy="64008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96512"/>
            <a:ext cx="6309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CDDCDE"/>
                </a:solidFill>
                <a:latin typeface="Microsoft JhengHei"/>
              </a:defRPr>
            </a:pPr>
            <a:r>
              <a:t>專案介紹簡報  |  AI 課程期末小工具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44768"/>
            <a:ext cx="6766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CDDCDE"/>
                </a:solidFill>
                <a:latin typeface="Microsoft JhengHei"/>
              </a:defRPr>
            </a:pPr>
            <a:r>
              <a:t>GitHub 專案：beixin6768/bath-cabinet-inventory-tool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為什麼需要這個小工具？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浴櫃通常以「一組」出貨，但庫存其實由兩種品項組成。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29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82296" cy="228600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58568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F7E80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40280"/>
            <a:ext cx="2331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主櫃庫存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每個系列、尺寸都有各自的主櫃數量。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429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57400"/>
            <a:ext cx="82296" cy="2286000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58568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DEAC5C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240280"/>
            <a:ext cx="2331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鏡櫃／鏡子庫存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70632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鏡櫃可能與主櫃分開管理、分開扣帳。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429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82296" cy="2286000"/>
          </a:xfrm>
          <a:prstGeom prst="rect">
            <a:avLst/>
          </a:prstGeom>
          <a:solidFill>
            <a:srgbClr val="B8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258568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85346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240280"/>
            <a:ext cx="23317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可出整組數量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70632"/>
            <a:ext cx="29260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真正可出貨組數取決於兩者中較少的庫存。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800600"/>
            <a:ext cx="10241280" cy="777240"/>
          </a:xfrm>
          <a:prstGeom prst="round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001768"/>
            <a:ext cx="9692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核心問題：只看單一品項數量，容易高估實際可出貨的整組數。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解決方式：把「一組」的庫存關係算清楚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將主櫃與鏡櫃的庫存放在同一個操作流程中。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50292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637177"/>
                </a:solidFill>
                <a:latin typeface="Microsoft JhengHei"/>
              </a:defRPr>
            </a:pPr>
            <a:r>
              <a:t>可出貨組數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4389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F7E80"/>
                </a:solidFill>
                <a:latin typeface="Microsoft JhengHei"/>
              </a:defRPr>
            </a:pPr>
            <a:r>
              <a:t>= min（主櫃庫存，鏡櫃庫存）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例：主櫃 12 件、鏡櫃 8 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224528"/>
            <a:ext cx="4389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B38"/>
                </a:solidFill>
                <a:latin typeface="Microsoft JhengHei"/>
              </a:defRPr>
            </a:pPr>
            <a:r>
              <a:t>最多可出 8 組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441448"/>
            <a:ext cx="118872" cy="11887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331720"/>
            <a:ext cx="468172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3A"/>
                </a:solidFill>
                <a:latin typeface="Microsoft JhengHei"/>
              </a:defRPr>
            </a:pPr>
            <a:r>
              <a:t>出一組：主櫃與鏡櫃各扣 1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099815"/>
            <a:ext cx="118872" cy="11887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990087"/>
            <a:ext cx="468172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3A"/>
                </a:solidFill>
                <a:latin typeface="Microsoft JhengHei"/>
              </a:defRPr>
            </a:pPr>
            <a:r>
              <a:t>單買主櫃或鏡櫃：只扣對應品項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758183"/>
            <a:ext cx="118872" cy="11887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648456"/>
            <a:ext cx="468172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A343A"/>
                </a:solidFill>
                <a:latin typeface="Microsoft JhengHei"/>
              </a:defRPr>
            </a:pPr>
            <a:r>
              <a:t>庫存不足：阻止操作並顯示警告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03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主要功能一覽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從日常庫存調整到出貨紀錄，減少人工計算與重複核對。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82296" cy="132588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自動扣庫存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2926080" cy="502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出貨浴櫃組時，同步扣除主櫃與鏡櫃。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011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2011680"/>
            <a:ext cx="82296" cy="1325880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支援單品出貨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724912"/>
            <a:ext cx="2926080" cy="502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主櫃、鏡櫃／鏡子可分開銷售。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201168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2011680"/>
            <a:ext cx="82296" cy="132588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2194560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即時可出組數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24912"/>
            <a:ext cx="2926080" cy="502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依兩種庫存的較小值計算。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82296" cy="1325880"/>
          </a:xfrm>
          <a:prstGeom prst="rect">
            <a:avLst/>
          </a:prstGeom>
          <a:solidFill>
            <a:srgbClr val="B8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84048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不足提醒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70832"/>
            <a:ext cx="2926080" cy="502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庫存不夠時擋下出貨並警告。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65760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3657600"/>
            <a:ext cx="82296" cy="1325880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384048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進出貨歷程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370832"/>
            <a:ext cx="2926080" cy="502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記錄每筆異動，支援單筆刪除復原。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65760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3657600"/>
            <a:ext cx="82296" cy="132588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3840480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批次貼上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4370832"/>
            <a:ext cx="2926080" cy="5029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可貼入 Excel 的系列、尺寸與庫存數量。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04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使用流程：從盤點到出貨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以簡單的步驟，讓使用者快速開始操作。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2240280"/>
            <a:ext cx="713232" cy="71323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414016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2578608"/>
            <a:ext cx="1143000" cy="32004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開啟工具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2286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下載 HTML 檔後，用瀏覽器開啟。</a:t>
            </a:r>
          </a:p>
        </p:txBody>
      </p:sp>
      <p:sp>
        <p:nvSpPr>
          <p:cNvPr id="11" name="Oval 10"/>
          <p:cNvSpPr/>
          <p:nvPr/>
        </p:nvSpPr>
        <p:spPr>
          <a:xfrm>
            <a:off x="4270248" y="2240280"/>
            <a:ext cx="713232" cy="71323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414016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2578608"/>
            <a:ext cx="1143000" cy="32004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匯入庫存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30752"/>
            <a:ext cx="2286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從 Excel 複製庫存表，貼上批次輸入區。</a:t>
            </a:r>
          </a:p>
        </p:txBody>
      </p:sp>
      <p:sp>
        <p:nvSpPr>
          <p:cNvPr id="16" name="Oval 15"/>
          <p:cNvSpPr/>
          <p:nvPr/>
        </p:nvSpPr>
        <p:spPr>
          <a:xfrm>
            <a:off x="7123176" y="2240280"/>
            <a:ext cx="713232" cy="71323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2414016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4696" y="2578608"/>
            <a:ext cx="1143000" cy="32004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確認可出組數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730752"/>
            <a:ext cx="2286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查看各系列／尺寸的主櫃、鏡櫃與可出組數。</a:t>
            </a:r>
          </a:p>
        </p:txBody>
      </p:sp>
      <p:sp>
        <p:nvSpPr>
          <p:cNvPr id="21" name="Oval 20"/>
          <p:cNvSpPr/>
          <p:nvPr/>
        </p:nvSpPr>
        <p:spPr>
          <a:xfrm>
            <a:off x="9976104" y="2240280"/>
            <a:ext cx="713232" cy="713232"/>
          </a:xfrm>
          <a:prstGeom prst="ellipse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6104" y="2414016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4612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登記出貨或進貨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730752"/>
            <a:ext cx="22860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選擇組合或單品，系統更新庫存並留下歷程。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074920"/>
            <a:ext cx="10149840" cy="594360"/>
          </a:xfrm>
          <a:prstGeom prst="round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230368"/>
            <a:ext cx="97840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B38"/>
                </a:solidFill>
                <a:latin typeface="Microsoft JhengHei"/>
              </a:defRPr>
            </a:pPr>
            <a:r>
              <a:t>免安裝｜瀏覽器即可開啟｜資料保存在目前瀏覽器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05 / PRACTICAL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操作示例：一組出貨，兩項同步扣除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以下為示意數字，用來說明庫存計算邏輯。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649224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637177"/>
                </a:solidFill>
                <a:latin typeface="Microsoft JhengHei"/>
              </a:defRPr>
            </a:pPr>
            <a:r>
              <a:t>品項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304288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637177"/>
                </a:solidFill>
                <a:latin typeface="Microsoft JhengHei"/>
              </a:defRPr>
            </a:pPr>
            <a:r>
              <a:t>出貨前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04288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637177"/>
                </a:solidFill>
                <a:latin typeface="Microsoft JhengHei"/>
              </a:defRPr>
            </a:pPr>
            <a:r>
              <a:t>出貨數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304288"/>
            <a:ext cx="1234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637177"/>
                </a:solidFill>
                <a:latin typeface="Microsoft JhengHei"/>
              </a:defRPr>
            </a:pPr>
            <a:r>
              <a:t>出貨後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97480"/>
            <a:ext cx="5852160" cy="18288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主櫃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7180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182B38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B85346"/>
                </a:solidFill>
                <a:latin typeface="Microsoft JhengHei"/>
              </a:defRPr>
            </a:pPr>
            <a:r>
              <a:t>− 3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97180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182B38"/>
                </a:solidFill>
                <a:latin typeface="Microsoft JhengHe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9476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鏡櫃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79476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182B38"/>
                </a:solidFill>
                <a:latin typeface="Microsoft JhengHei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9476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B85346"/>
                </a:solidFill>
                <a:latin typeface="Microsoft JhengHei"/>
              </a:defRPr>
            </a:pPr>
            <a:r>
              <a:t>− 3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94760"/>
            <a:ext cx="1234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182B38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572000"/>
            <a:ext cx="1463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7177"/>
                </a:solidFill>
                <a:latin typeface="Microsoft JhengHei"/>
              </a:defRPr>
            </a:pPr>
            <a:r>
              <a:t>可出組數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53712"/>
            <a:ext cx="1554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7E80"/>
                </a:solidFill>
                <a:latin typeface="Microsoft JhengHei"/>
              </a:defRPr>
            </a:pPr>
            <a:r>
              <a:t>出貨前：8 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553712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F7E80"/>
                </a:solidFill>
                <a:latin typeface="Microsoft JhengHei"/>
              </a:defRPr>
            </a:pPr>
            <a:r>
              <a:t>出貨後：5 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79" y="2240280"/>
            <a:ext cx="3474720" cy="2377440"/>
          </a:xfrm>
          <a:prstGeom prst="round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578608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7E80"/>
                </a:solidFill>
                <a:latin typeface="Microsoft JhengHei"/>
              </a:defRPr>
            </a:pPr>
            <a:r>
              <a:t>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15468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B38"/>
                </a:solidFill>
                <a:latin typeface="Microsoft JhengHei"/>
              </a:defRPr>
            </a:pPr>
            <a:r>
              <a:t>主櫃與鏡櫃各扣 3 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794760"/>
            <a:ext cx="28346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系統同步更新庫存，避免只扣到其中一項。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06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資料保存與使用注意事項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工具以輕量、容易上手為目標；實際使用仍需建立備份習慣。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42900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82296" cy="224028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瀏覽器自動保存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70632"/>
            <a:ext cx="29260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資料存於 localStorage；同一瀏覽器再次開啟時可保留資料。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82296" cy="2240280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4028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出貨歷程可追溯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70632"/>
            <a:ext cx="29260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可查看進貨／出貨紀錄，並對單筆紀錄進行刪除復原。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42900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57400"/>
            <a:ext cx="82296" cy="2240280"/>
          </a:xfrm>
          <a:prstGeom prst="rect">
            <a:avLst/>
          </a:prstGeom>
          <a:solidFill>
            <a:srgbClr val="B85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240280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建議定期備份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70632"/>
            <a:ext cx="29260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清除瀏覽器資料、換電腦或換瀏覽器可能造成資料無法沿用。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709160"/>
            <a:ext cx="1014984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19472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82B38"/>
                </a:solidFill>
                <a:latin typeface="Microsoft JhengHei"/>
              </a:defRPr>
            </a:pPr>
            <a:r>
              <a:t>重要提醒：localStorage 是單一瀏覽器的本機保存方式，不等於雲端同步或多人共用資料庫。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F7E80"/>
                </a:solidFill>
                <a:latin typeface="Microsoft JhengHei"/>
              </a:defRPr>
            </a:pPr>
            <a:r>
              <a:t>07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82B38"/>
                </a:solidFill>
                <a:latin typeface="Microsoft JhengHei"/>
              </a:defRPr>
            </a:pPr>
            <a:r>
              <a:t>帶來的效益與後續發展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37177"/>
                </a:solidFill>
                <a:latin typeface="Microsoft JhengHei"/>
              </a:defRPr>
            </a:pPr>
            <a:r>
              <a:t>先解決最常發生的庫存誤判，再逐步提升管理完整度。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82296" cy="182880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降低計算負擔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24912"/>
            <a:ext cx="29260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可出整組數量由系統計算，不必每次人工比對。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82296" cy="1828800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94560"/>
            <a:ext cx="2990087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減少出貨錯誤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24912"/>
            <a:ext cx="29260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庫存不足時先阻擋，降低超賣或漏扣風險。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82296" cy="182880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94560"/>
            <a:ext cx="299008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加快盤點作業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24912"/>
            <a:ext cx="29260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37177"/>
                </a:solidFill>
                <a:latin typeface="Microsoft JhengHei"/>
              </a:defRPr>
            </a:pPr>
            <a:r>
              <a:t>批次貼上庫存資料，減少逐筆輸入。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82B38"/>
                </a:solidFill>
                <a:latin typeface="Microsoft JhengHei"/>
              </a:defRPr>
            </a:pPr>
            <a:r>
              <a:t>可規劃的下一步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818888"/>
            <a:ext cx="118872" cy="11887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4709160"/>
            <a:ext cx="9985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3A"/>
                </a:solidFill>
                <a:latin typeface="Microsoft JhengHei"/>
              </a:defRPr>
            </a:pPr>
            <a:r>
              <a:t>增加 CSV／Excel 匯出與備份還原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5166360"/>
            <a:ext cx="118872" cy="11887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5056632"/>
            <a:ext cx="9985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3A"/>
                </a:solidFill>
                <a:latin typeface="Microsoft JhengHei"/>
              </a:defRPr>
            </a:pPr>
            <a:r>
              <a:t>加入操作人員、時間戳記與權限管理</a:t>
            </a:r>
          </a:p>
        </p:txBody>
      </p:sp>
      <p:sp>
        <p:nvSpPr>
          <p:cNvPr id="23" name="Oval 22"/>
          <p:cNvSpPr/>
          <p:nvPr/>
        </p:nvSpPr>
        <p:spPr>
          <a:xfrm>
            <a:off x="896112" y="5513832"/>
            <a:ext cx="118872" cy="118872"/>
          </a:xfrm>
          <a:prstGeom prst="ellipse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5404104"/>
            <a:ext cx="99852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A343A"/>
                </a:solidFill>
                <a:latin typeface="Microsoft JhengHei"/>
              </a:defRPr>
            </a:pPr>
            <a:r>
              <a:t>評估雲端同步，支援多台裝置共用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36792"/>
            <a:ext cx="10927080" cy="10972"/>
          </a:xfrm>
          <a:prstGeom prst="rect">
            <a:avLst/>
          </a:prstGeom>
          <a:solidFill>
            <a:srgbClr val="DC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28232"/>
            <a:ext cx="5029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37177"/>
                </a:solidFill>
                <a:latin typeface="Microsoft JhengHei"/>
              </a:defRPr>
            </a:pPr>
            <a:r>
              <a:t>浴櫃庫存小工具  |  專案介紹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637177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EAC5C"/>
                </a:solidFill>
                <a:latin typeface="Microsoft JhengHei"/>
              </a:defRPr>
            </a:pPr>
            <a: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7498079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讓每一組浴櫃的庫存，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Microsoft JhengHei"/>
              </a:defRPr>
            </a:pPr>
            <a:r>
              <a:t>一眼就能掌握。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7498079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CF1EB"/>
                </a:solidFill>
                <a:latin typeface="Microsoft JhengHei"/>
              </a:defRPr>
            </a:pPr>
            <a:r>
              <a:t>以主櫃與鏡櫃的同步扣庫存為核心，</a:t>
            </a:r>
          </a:p>
          <a:p>
            <a:pPr>
              <a:spcAft>
                <a:spcPts val="800"/>
              </a:spcAft>
              <a:defRPr sz="1700" b="0">
                <a:solidFill>
                  <a:srgbClr val="DCF1EB"/>
                </a:solidFill>
                <a:latin typeface="Microsoft JhengHei"/>
              </a:defRPr>
            </a:pPr>
            <a:r>
              <a:t>把庫存計算、出貨紀錄與批次盤點整合成簡單工具。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389120"/>
            <a:ext cx="1005840" cy="64008"/>
          </a:xfrm>
          <a:prstGeom prst="rect">
            <a:avLst/>
          </a:prstGeom>
          <a:solidFill>
            <a:srgbClr val="DEA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專案原始碼與 HTML 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CDDCDE"/>
                </a:solidFill>
                <a:latin typeface="Microsoft JhengHei"/>
              </a:defRPr>
            </a:pPr>
            <a:r>
              <a:t>github.com/beixin6768/bath-cabinet-inventory-tool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554480"/>
            <a:ext cx="2286000" cy="3200400"/>
          </a:xfrm>
          <a:prstGeom prst="round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874519"/>
            <a:ext cx="1737360" cy="1143000"/>
          </a:xfrm>
          <a:prstGeom prst="rect">
            <a:avLst/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9680" y="3154680"/>
            <a:ext cx="1737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10928" y="3154680"/>
            <a:ext cx="54864" cy="1234440"/>
          </a:xfrm>
          <a:prstGeom prst="rect">
            <a:avLst/>
          </a:prstGeom>
          <a:solidFill>
            <a:srgbClr val="1F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2148840"/>
            <a:ext cx="15087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B38"/>
                </a:solidFill>
                <a:latin typeface="Microsoft JhengHei"/>
              </a:defRPr>
            </a:pPr>
            <a:r>
              <a:t>THANK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182B38"/>
                </a:solidFill>
                <a:latin typeface="Microsoft JhengHei"/>
              </a:defRPr>
            </a:pPr>
            <a: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657600"/>
            <a:ext cx="1371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F7E80"/>
                </a:solidFill>
                <a:latin typeface="Microsoft JhengHei"/>
              </a:defRPr>
            </a:pPr>
            <a:r>
              <a:t>Q &amp;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900" b="1">
                <a:solidFill>
                  <a:srgbClr val="CDDCDE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